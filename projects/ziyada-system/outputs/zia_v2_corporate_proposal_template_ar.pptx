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Inter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Inter-bold.fntdata"/><Relationship Id="rId12" Type="http://schemas.openxmlformats.org/officeDocument/2006/relationships/font" Target="fonts/Inter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boldItalic.fntdata"/><Relationship Id="rId14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SLIDES_API55303458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SLIDES_API55303458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SLIDES_API553034589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SLIDES_API553034589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SLIDES_API553034589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SLIDES_API553034589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SLIDES_API553034589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SLIDES_API553034589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SLIDES_API553034589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SLIDES_API553034589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513" y="0"/>
            <a:ext cx="1127097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3302000" y="381000"/>
            <a:ext cx="5460900" cy="5460900"/>
          </a:xfrm>
          <a:prstGeom prst="ellipse">
            <a:avLst/>
          </a:prstGeom>
          <a:solidFill>
            <a:srgbClr val="3B82F6">
              <a:alpha val="9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698500" y="863600"/>
            <a:ext cx="10794900" cy="5207100"/>
          </a:xfrm>
          <a:prstGeom prst="roundRect">
            <a:avLst>
              <a:gd fmla="val 16667" name="adj"/>
            </a:avLst>
          </a:prstGeom>
          <a:solidFill>
            <a:srgbClr val="FFFFFF">
              <a:alpha val="10000"/>
            </a:srgbClr>
          </a:solidFill>
          <a:ln cap="flat" cmpd="sng" w="12700">
            <a:solidFill>
              <a:srgbClr val="FFFFFF">
                <a:alpha val="36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9271000" y="304800"/>
            <a:ext cx="2159100" cy="457200"/>
          </a:xfrm>
          <a:prstGeom prst="roundRect">
            <a:avLst>
              <a:gd fmla="val 16667" name="adj"/>
            </a:avLst>
          </a:prstGeom>
          <a:solidFill>
            <a:srgbClr val="6366F1">
              <a:alpha val="85000"/>
            </a:srgbClr>
          </a:solidFill>
          <a:ln cap="flat" cmpd="sng" w="1270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3"/>
          <p:cNvSpPr txBox="1"/>
          <p:nvPr/>
        </p:nvSpPr>
        <p:spPr>
          <a:xfrm>
            <a:off x="1397000" y="1498600"/>
            <a:ext cx="9651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قالب العروض والـ Quotations | زيادة سيستم</a:t>
            </a:r>
            <a:endParaRPr b="1" sz="3600">
              <a:solidFill>
                <a:srgbClr val="6366F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1397000" y="2794000"/>
            <a:ext cx="96519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تصميم حديث بنفس روح الموقع</a:t>
            </a:r>
            <a:endParaRPr sz="18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قابل للتخصيص للفِرق التجارية B2B</a:t>
            </a:r>
            <a:endParaRPr sz="18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غلاف ونهائي متناسقين مع الهوية</a:t>
            </a:r>
            <a:endParaRPr sz="18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9398000" y="406400"/>
            <a:ext cx="1905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MOON TIER</a:t>
            </a:r>
            <a:endParaRPr b="1" sz="10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513" y="0"/>
            <a:ext cx="1127097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3302000" y="381000"/>
            <a:ext cx="5460900" cy="5460900"/>
          </a:xfrm>
          <a:prstGeom prst="ellipse">
            <a:avLst/>
          </a:prstGeom>
          <a:solidFill>
            <a:srgbClr val="3B82F6">
              <a:alpha val="9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/>
          <p:nvPr/>
        </p:nvSpPr>
        <p:spPr>
          <a:xfrm>
            <a:off x="698500" y="863600"/>
            <a:ext cx="10794900" cy="5207100"/>
          </a:xfrm>
          <a:prstGeom prst="roundRect">
            <a:avLst>
              <a:gd fmla="val 16667" name="adj"/>
            </a:avLst>
          </a:prstGeom>
          <a:solidFill>
            <a:srgbClr val="FFFFFF">
              <a:alpha val="10000"/>
            </a:srgbClr>
          </a:solidFill>
          <a:ln cap="flat" cmpd="sng" w="12700">
            <a:solidFill>
              <a:srgbClr val="FFFFFF">
                <a:alpha val="36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/>
          <p:nvPr/>
        </p:nvSpPr>
        <p:spPr>
          <a:xfrm>
            <a:off x="9271000" y="304800"/>
            <a:ext cx="2159100" cy="457200"/>
          </a:xfrm>
          <a:prstGeom prst="roundRect">
            <a:avLst>
              <a:gd fmla="val 16667" name="adj"/>
            </a:avLst>
          </a:prstGeom>
          <a:solidFill>
            <a:srgbClr val="6366F1">
              <a:alpha val="85000"/>
            </a:srgbClr>
          </a:solidFill>
          <a:ln cap="flat" cmpd="sng" w="1270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4"/>
          <p:cNvSpPr txBox="1"/>
          <p:nvPr/>
        </p:nvSpPr>
        <p:spPr>
          <a:xfrm>
            <a:off x="1397000" y="1498600"/>
            <a:ext cx="9651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كيف تستخدم القالب بسرعة</a:t>
            </a:r>
            <a:endParaRPr b="1" sz="3600">
              <a:solidFill>
                <a:srgbClr val="6366F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1397000" y="2794000"/>
            <a:ext cx="96519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1) انسخ الملف كنسخة مشروع</a:t>
            </a:r>
            <a:endParaRPr sz="18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2) استخدم خلفية اليوم + كروت زجاجية خفيفة</a:t>
            </a:r>
            <a:endParaRPr sz="18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3) حافظ على ألوان CTA البنفسجي/الأزرق</a:t>
            </a:r>
            <a:endParaRPr sz="18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4) لا تزحم النص، ركز على الوضوح</a:t>
            </a:r>
            <a:endParaRPr sz="18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9398000" y="406400"/>
            <a:ext cx="1905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GUIDE</a:t>
            </a:r>
            <a:endParaRPr b="1" sz="10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513" y="0"/>
            <a:ext cx="1127097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/>
          <p:nvPr/>
        </p:nvSpPr>
        <p:spPr>
          <a:xfrm>
            <a:off x="3302000" y="381000"/>
            <a:ext cx="5460900" cy="5460900"/>
          </a:xfrm>
          <a:prstGeom prst="ellipse">
            <a:avLst/>
          </a:prstGeom>
          <a:solidFill>
            <a:srgbClr val="3B82F6">
              <a:alpha val="9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/>
          <p:nvPr/>
        </p:nvSpPr>
        <p:spPr>
          <a:xfrm>
            <a:off x="698500" y="863600"/>
            <a:ext cx="10794900" cy="5207100"/>
          </a:xfrm>
          <a:prstGeom prst="roundRect">
            <a:avLst>
              <a:gd fmla="val 16667" name="adj"/>
            </a:avLst>
          </a:prstGeom>
          <a:solidFill>
            <a:srgbClr val="FFFFFF">
              <a:alpha val="10000"/>
            </a:srgbClr>
          </a:solidFill>
          <a:ln cap="flat" cmpd="sng" w="12700">
            <a:solidFill>
              <a:srgbClr val="FFFFFF">
                <a:alpha val="36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9271000" y="304800"/>
            <a:ext cx="2159100" cy="457200"/>
          </a:xfrm>
          <a:prstGeom prst="roundRect">
            <a:avLst>
              <a:gd fmla="val 16667" name="adj"/>
            </a:avLst>
          </a:prstGeom>
          <a:solidFill>
            <a:srgbClr val="6366F1">
              <a:alpha val="85000"/>
            </a:srgbClr>
          </a:solidFill>
          <a:ln cap="flat" cmpd="sng" w="1270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1397000" y="1498600"/>
            <a:ext cx="9651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هيكل العرض المقترح</a:t>
            </a:r>
            <a:endParaRPr b="1" sz="3600">
              <a:solidFill>
                <a:srgbClr val="6366F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1397000" y="2794000"/>
            <a:ext cx="96519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غلاف -&gt; تشخيص -&gt; الحل -&gt; خطة التنفيذ -&gt; التسعير -&gt; المخاطر -&gt; CTA</a:t>
            </a:r>
            <a:endParaRPr sz="18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كل قسم له Divider بصري كبير مثل واجهة الموقع</a:t>
            </a:r>
            <a:endParaRPr sz="18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9398000" y="406400"/>
            <a:ext cx="1905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FLOW</a:t>
            </a:r>
            <a:endParaRPr b="1" sz="10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513" y="0"/>
            <a:ext cx="1127097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6"/>
          <p:cNvSpPr/>
          <p:nvPr/>
        </p:nvSpPr>
        <p:spPr>
          <a:xfrm>
            <a:off x="3302000" y="381000"/>
            <a:ext cx="5460900" cy="5460900"/>
          </a:xfrm>
          <a:prstGeom prst="ellipse">
            <a:avLst/>
          </a:prstGeom>
          <a:solidFill>
            <a:srgbClr val="3B82F6">
              <a:alpha val="9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6"/>
          <p:cNvSpPr/>
          <p:nvPr/>
        </p:nvSpPr>
        <p:spPr>
          <a:xfrm>
            <a:off x="698500" y="863600"/>
            <a:ext cx="10794900" cy="5207100"/>
          </a:xfrm>
          <a:prstGeom prst="roundRect">
            <a:avLst>
              <a:gd fmla="val 16667" name="adj"/>
            </a:avLst>
          </a:prstGeom>
          <a:solidFill>
            <a:srgbClr val="FFFFFF">
              <a:alpha val="10000"/>
            </a:srgbClr>
          </a:solidFill>
          <a:ln cap="flat" cmpd="sng" w="12700">
            <a:solidFill>
              <a:srgbClr val="FFFFFF">
                <a:alpha val="36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9271000" y="304800"/>
            <a:ext cx="2159100" cy="457200"/>
          </a:xfrm>
          <a:prstGeom prst="roundRect">
            <a:avLst>
              <a:gd fmla="val 16667" name="adj"/>
            </a:avLst>
          </a:prstGeom>
          <a:solidFill>
            <a:srgbClr val="6366F1">
              <a:alpha val="85000"/>
            </a:srgbClr>
          </a:solidFill>
          <a:ln cap="flat" cmpd="sng" w="1270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 txBox="1"/>
          <p:nvPr/>
        </p:nvSpPr>
        <p:spPr>
          <a:xfrm>
            <a:off x="1397000" y="1498600"/>
            <a:ext cx="9651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قوالب صفحات التسعير</a:t>
            </a:r>
            <a:endParaRPr b="1" sz="3600">
              <a:solidFill>
                <a:srgbClr val="6366F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1397000" y="2794000"/>
            <a:ext cx="96519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باقة تأسيس / نمو / أداء</a:t>
            </a:r>
            <a:endParaRPr sz="18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بنود واضحة + افتراضات + مدة التنفيذ</a:t>
            </a:r>
            <a:endParaRPr sz="18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صفحة جاهزة للتوقيع والاعتماد</a:t>
            </a:r>
            <a:endParaRPr sz="18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9398000" y="406400"/>
            <a:ext cx="1905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QUOTE</a:t>
            </a:r>
            <a:endParaRPr b="1" sz="10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513" y="0"/>
            <a:ext cx="1127097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7"/>
          <p:cNvSpPr/>
          <p:nvPr/>
        </p:nvSpPr>
        <p:spPr>
          <a:xfrm>
            <a:off x="3302000" y="381000"/>
            <a:ext cx="5460900" cy="5460900"/>
          </a:xfrm>
          <a:prstGeom prst="ellipse">
            <a:avLst/>
          </a:prstGeom>
          <a:solidFill>
            <a:srgbClr val="3B82F6">
              <a:alpha val="9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7"/>
          <p:cNvSpPr/>
          <p:nvPr/>
        </p:nvSpPr>
        <p:spPr>
          <a:xfrm>
            <a:off x="698500" y="863600"/>
            <a:ext cx="10794900" cy="5207100"/>
          </a:xfrm>
          <a:prstGeom prst="roundRect">
            <a:avLst>
              <a:gd fmla="val 16667" name="adj"/>
            </a:avLst>
          </a:prstGeom>
          <a:solidFill>
            <a:srgbClr val="FFFFFF">
              <a:alpha val="10000"/>
            </a:srgbClr>
          </a:solidFill>
          <a:ln cap="flat" cmpd="sng" w="12700">
            <a:solidFill>
              <a:srgbClr val="FFFFFF">
                <a:alpha val="36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9271000" y="304800"/>
            <a:ext cx="2159100" cy="457200"/>
          </a:xfrm>
          <a:prstGeom prst="roundRect">
            <a:avLst>
              <a:gd fmla="val 16667" name="adj"/>
            </a:avLst>
          </a:prstGeom>
          <a:solidFill>
            <a:srgbClr val="6366F1">
              <a:alpha val="85000"/>
            </a:srgbClr>
          </a:solidFill>
          <a:ln cap="flat" cmpd="sng" w="1270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7"/>
          <p:cNvSpPr txBox="1"/>
          <p:nvPr/>
        </p:nvSpPr>
        <p:spPr>
          <a:xfrm>
            <a:off x="1397000" y="1498600"/>
            <a:ext cx="9651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استخدام الموك اب في الشرائح</a:t>
            </a:r>
            <a:endParaRPr b="1" sz="3600">
              <a:solidFill>
                <a:srgbClr val="6366F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" name="Google Shape;110;p17"/>
          <p:cNvSpPr txBox="1"/>
          <p:nvPr/>
        </p:nvSpPr>
        <p:spPr>
          <a:xfrm>
            <a:off x="1397000" y="2794000"/>
            <a:ext cx="96519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iPhone mockup و MacBook mockup مرفقة كملفات مفتوحة</a:t>
            </a:r>
            <a:endParaRPr sz="18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حط التصميم داخل الإطار مع هوامش ثابتة</a:t>
            </a:r>
            <a:endParaRPr sz="18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استخدمها لعرض posts والـ reels previews</a:t>
            </a:r>
            <a:endParaRPr sz="18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9398000" y="406400"/>
            <a:ext cx="1905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MOCKUPS</a:t>
            </a:r>
            <a:endParaRPr b="1" sz="10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513" y="0"/>
            <a:ext cx="1127097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8"/>
          <p:cNvSpPr/>
          <p:nvPr/>
        </p:nvSpPr>
        <p:spPr>
          <a:xfrm>
            <a:off x="3302000" y="381000"/>
            <a:ext cx="5460900" cy="5460900"/>
          </a:xfrm>
          <a:prstGeom prst="ellipse">
            <a:avLst/>
          </a:prstGeom>
          <a:solidFill>
            <a:srgbClr val="3B82F6">
              <a:alpha val="9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8"/>
          <p:cNvSpPr/>
          <p:nvPr/>
        </p:nvSpPr>
        <p:spPr>
          <a:xfrm>
            <a:off x="698500" y="863600"/>
            <a:ext cx="10794900" cy="5207100"/>
          </a:xfrm>
          <a:prstGeom prst="roundRect">
            <a:avLst>
              <a:gd fmla="val 16667" name="adj"/>
            </a:avLst>
          </a:prstGeom>
          <a:solidFill>
            <a:srgbClr val="FFFFFF">
              <a:alpha val="10000"/>
            </a:srgbClr>
          </a:solidFill>
          <a:ln cap="flat" cmpd="sng" w="12700">
            <a:solidFill>
              <a:srgbClr val="FFFFFF">
                <a:alpha val="36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8"/>
          <p:cNvSpPr/>
          <p:nvPr/>
        </p:nvSpPr>
        <p:spPr>
          <a:xfrm>
            <a:off x="9271000" y="304800"/>
            <a:ext cx="2159100" cy="457200"/>
          </a:xfrm>
          <a:prstGeom prst="roundRect">
            <a:avLst>
              <a:gd fmla="val 16667" name="adj"/>
            </a:avLst>
          </a:prstGeom>
          <a:solidFill>
            <a:srgbClr val="6366F1">
              <a:alpha val="85000"/>
            </a:srgbClr>
          </a:solidFill>
          <a:ln cap="flat" cmpd="sng" w="1270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8"/>
          <p:cNvSpPr txBox="1"/>
          <p:nvPr/>
        </p:nvSpPr>
        <p:spPr>
          <a:xfrm>
            <a:off x="1397000" y="1498600"/>
            <a:ext cx="9651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جاهز للإرسال للعميل</a:t>
            </a:r>
            <a:endParaRPr b="1" sz="3600">
              <a:solidFill>
                <a:srgbClr val="6366F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2" name="Google Shape;122;p18"/>
          <p:cNvSpPr txBox="1"/>
          <p:nvPr/>
        </p:nvSpPr>
        <p:spPr>
          <a:xfrm>
            <a:off x="1397000" y="2794000"/>
            <a:ext cx="96519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تم بناء القالب للفِرق الداخلية في Zia</a:t>
            </a:r>
            <a:endParaRPr sz="18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نسق حديث + قراءة مريحة + CTA واضح</a:t>
            </a:r>
            <a:endParaRPr sz="18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3" name="Google Shape;123;p18"/>
          <p:cNvSpPr txBox="1"/>
          <p:nvPr/>
        </p:nvSpPr>
        <p:spPr>
          <a:xfrm>
            <a:off x="9398000" y="406400"/>
            <a:ext cx="1905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END</a:t>
            </a:r>
            <a:endParaRPr b="1" sz="10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