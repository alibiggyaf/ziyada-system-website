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Sheet1!$A$2:$A$5</c:f>
              <c:strCache>
                <c:ptCount val="4"/>
                <c:pt idx="0">
                  <c:v>Cycle</c:v>
                </c:pt>
                <c:pt idx="1">
                  <c:v>Manual</c:v>
                </c:pt>
                <c:pt idx="2">
                  <c:v>Decision</c:v>
                </c:pt>
                <c:pt idx="3">
                  <c:v>SLA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06B6D4"/>
            </a:solidFill>
          </c:spPr>
          <c:cat>
            <c:strRef>
              <c:f>Sheet1!$A$2:$A$5</c:f>
              <c:strCache>
                <c:ptCount val="4"/>
                <c:pt idx="0">
                  <c:v>Cycle</c:v>
                </c:pt>
                <c:pt idx="1">
                  <c:v>Manual</c:v>
                </c:pt>
                <c:pt idx="2">
                  <c:v>Decision</c:v>
                </c:pt>
                <c:pt idx="3">
                  <c:v>SLA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</c:v>
                </c:pt>
                <c:pt idx="1">
                  <c:v>54</c:v>
                </c:pt>
                <c:pt idx="2">
                  <c:v>58</c:v>
                </c:pt>
                <c:pt idx="3">
                  <c:v>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B4C4D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B4C4D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Sheet1!$A$2:$A$4</c:f>
              <c:strCache>
                <c:ptCount val="3"/>
                <c:pt idx="0">
                  <c:v>Lead-SQL</c:v>
                </c:pt>
                <c:pt idx="1">
                  <c:v>SQL-Opp</c:v>
                </c:pt>
                <c:pt idx="2">
                  <c:v>Opp-Win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25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B4C4D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B4C4D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Traffic</c:v>
                </c:pt>
                <c:pt idx="1">
                  <c:v>Leads</c:v>
                </c:pt>
                <c:pt idx="2">
                  <c:v>MQL</c:v>
                </c:pt>
                <c:pt idx="3">
                  <c:v>Opp</c:v>
                </c:pt>
                <c:pt idx="4">
                  <c:v>Won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44</c:v>
                </c:pt>
                <c:pt idx="2">
                  <c:v>27</c:v>
                </c:pt>
                <c:pt idx="3">
                  <c:v>16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B4C4D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B4C4D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677316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زيادة سيستم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ملف تعريفي احترافي للشركات المؤسسية في المملكة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8092440" cy="283464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56816"/>
            <a:ext cx="781811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خلاصة القيمة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7790688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نبني أنظمة تشغيل رقمية تربط الاستراتيجية بالتنفيذ اليومي.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نحوّل العمليات اليدوية إلى تدفقات مؤتمتة قابلة للقياس.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نرفع موثوقية القرار عبر لوحات مؤشرات تشغيلية وتنفيذية.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5897880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تشخيص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669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69464" y="5897880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تصميم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7977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352544" y="5897880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تنفيذ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6285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135624" y="5897880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قياس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593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918704" y="5897880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تحسين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2901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701784" y="5897880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610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توسع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354632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الملخص التنفيذي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شريك تشغيلي بتركيز مؤسسي ونتائج عملية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1828800"/>
            <a:ext cx="2615184" cy="1024128"/>
          </a:xfrm>
          <a:prstGeom prst="roundRect">
            <a:avLst/>
          </a:prstGeom>
          <a:solidFill>
            <a:srgbClr val="131F3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20240"/>
            <a:ext cx="24323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4DC"/>
                </a:solidFill>
                <a:latin typeface="Noto Kufi Arabic"/>
              </a:defRPr>
            </a:pPr>
            <a:r>
              <a:t>خفض زمن العمليات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49424"/>
            <a:ext cx="24323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E2E8F0"/>
                </a:solidFill>
                <a:latin typeface="Inter"/>
              </a:defRPr>
            </a:pPr>
            <a:r>
              <a:t>-38%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1828800"/>
            <a:ext cx="2615184" cy="1024128"/>
          </a:xfrm>
          <a:prstGeom prst="roundRect">
            <a:avLst/>
          </a:prstGeom>
          <a:solidFill>
            <a:srgbClr val="131F35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920240"/>
            <a:ext cx="24323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4DC"/>
                </a:solidFill>
                <a:latin typeface="Noto Kufi Arabic"/>
              </a:defRPr>
            </a:pPr>
            <a:r>
              <a:t>تقليل الأعمال اليدوية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249424"/>
            <a:ext cx="24323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E2E8F0"/>
                </a:solidFill>
                <a:latin typeface="Inter"/>
              </a:defRPr>
            </a:pPr>
            <a:r>
              <a:t>-46%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1828800"/>
            <a:ext cx="2615184" cy="1024128"/>
          </a:xfrm>
          <a:prstGeom prst="roundRect">
            <a:avLst/>
          </a:prstGeom>
          <a:solidFill>
            <a:srgbClr val="131F35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920240"/>
            <a:ext cx="24323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4DC"/>
                </a:solidFill>
                <a:latin typeface="Noto Kufi Arabic"/>
              </a:defRPr>
            </a:pPr>
            <a:r>
              <a:t>تحسن انضباط الخدمة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249424"/>
            <a:ext cx="24323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E2E8F0"/>
                </a:solidFill>
                <a:latin typeface="Inter"/>
              </a:defRPr>
            </a:pPr>
            <a:r>
              <a:t>+31%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828800"/>
            <a:ext cx="2615184" cy="1024128"/>
          </a:xfrm>
          <a:prstGeom prst="roundRect">
            <a:avLst/>
          </a:prstGeom>
          <a:solidFill>
            <a:srgbClr val="131F35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920240"/>
            <a:ext cx="24323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4DC"/>
                </a:solidFill>
                <a:latin typeface="Noto Kufi Arabic"/>
              </a:defRPr>
            </a:pPr>
            <a:r>
              <a:t>وضوح القرار التنفيذي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49424"/>
            <a:ext cx="24323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E2E8F0"/>
                </a:solidFill>
                <a:latin typeface="Inter"/>
              </a:defRPr>
            </a:pPr>
            <a:r>
              <a:t>+42%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154680"/>
            <a:ext cx="6629400" cy="214884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282696"/>
            <a:ext cx="6355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التركيز التنفيذي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657600"/>
            <a:ext cx="6327648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الحوكمة قبل الأدوات، والقياس قبل التوسع.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تنفيذ تدريجي يحافظ على استمرارية التشغيل.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التعاطف في التصميم لضمان تبني الفرق للحلول.</a:t>
            </a:r>
          </a:p>
        </p:txBody>
      </p:sp>
      <p:pic>
        <p:nvPicPr>
          <p:cNvPr id="26" name="Picture 25" descr="profile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154680"/>
            <a:ext cx="361188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031949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من نحن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هوية تشغيلية تجمع التقنية بالإدارة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5394960" cy="40690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65376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هوية زيادة سيستم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5093208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نخدم الشركات المؤسسية وشركات B2B ذات العمليات المتعددة.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نربط فرق التسويق والمبيعات والتشغيل ضمن نموذج موحد.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نحول البيانات إلى قرارات تنفيذية واضحة.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نلتزم بنتائج قابلة للقياس دون مبالغة دعائية.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737360"/>
            <a:ext cx="4864608" cy="40690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865376"/>
            <a:ext cx="45902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قيم التنفيذ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240280"/>
            <a:ext cx="4562856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الابتكار: حلول عملية وليست تجريبية.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النزاهة: وضوح كامل في خطة التنفيذ والتكلفة.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التعاطف: تصميم الحل بما يناسب الفريق والعميل.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التميز: جودة تنفيذ قابلة للاستدامة.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709265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التحديات التشغيلية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المشكلات المتكررة داخل المنظومات المؤسسية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3529584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65376"/>
            <a:ext cx="325526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تشتت الأنظمة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3227832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نقل يدوي بين الأدوات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ازدواجية بيانات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تضارب التقارير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37360"/>
            <a:ext cx="3529584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865376"/>
            <a:ext cx="325526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بطء القرار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40280"/>
            <a:ext cx="3227832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انعدام لوحات لحظية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تأخر قراءة الأداء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ضعف الاستجابة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737360"/>
            <a:ext cx="297180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865376"/>
            <a:ext cx="2697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هدر تشغيلي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40280"/>
            <a:ext cx="267004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تكرار المهام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فرص مبيعات ضائعة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ارتفاع كلفة الخدمة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386582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منهج التنفيذ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خارطة عمل من التشخيص إلى التحسين المستمر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31720"/>
            <a:ext cx="1737360" cy="1371600"/>
          </a:xfrm>
          <a:prstGeom prst="chevr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24912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60">
                <a:solidFill>
                  <a:srgbClr val="E2E8F0"/>
                </a:solidFill>
                <a:latin typeface="Noto Kufi Arabic"/>
              </a:defRPr>
            </a:pPr>
            <a:r>
              <a:t>تحليل الوضع الحالي</a:t>
            </a:r>
          </a:p>
        </p:txBody>
      </p:sp>
      <p:sp>
        <p:nvSpPr>
          <p:cNvPr id="13" name="Chevron 12"/>
          <p:cNvSpPr/>
          <p:nvPr/>
        </p:nvSpPr>
        <p:spPr>
          <a:xfrm>
            <a:off x="2642616" y="2331720"/>
            <a:ext cx="1737360" cy="1371600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2724912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60">
                <a:solidFill>
                  <a:srgbClr val="E2E8F0"/>
                </a:solidFill>
                <a:latin typeface="Noto Kufi Arabic"/>
              </a:defRPr>
            </a:pPr>
            <a:r>
              <a:t>تصميم النموذج</a:t>
            </a:r>
          </a:p>
        </p:txBody>
      </p:sp>
      <p:sp>
        <p:nvSpPr>
          <p:cNvPr id="15" name="Chevron 14"/>
          <p:cNvSpPr/>
          <p:nvPr/>
        </p:nvSpPr>
        <p:spPr>
          <a:xfrm>
            <a:off x="4507992" y="2331720"/>
            <a:ext cx="1737360" cy="1371600"/>
          </a:xfrm>
          <a:prstGeom prst="chevr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724912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60">
                <a:solidFill>
                  <a:srgbClr val="E2E8F0"/>
                </a:solidFill>
                <a:latin typeface="Noto Kufi Arabic"/>
              </a:defRPr>
            </a:pPr>
            <a:r>
              <a:t>تنفيذ وتكامل</a:t>
            </a:r>
          </a:p>
        </p:txBody>
      </p:sp>
      <p:sp>
        <p:nvSpPr>
          <p:cNvPr id="17" name="Chevron 16"/>
          <p:cNvSpPr/>
          <p:nvPr/>
        </p:nvSpPr>
        <p:spPr>
          <a:xfrm>
            <a:off x="6373368" y="2331720"/>
            <a:ext cx="1737360" cy="1371600"/>
          </a:xfrm>
          <a:prstGeom prst="chevron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724912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60">
                <a:solidFill>
                  <a:srgbClr val="E2E8F0"/>
                </a:solidFill>
                <a:latin typeface="Noto Kufi Arabic"/>
              </a:defRPr>
            </a:pPr>
            <a:r>
              <a:t>تشغيل تجريبي</a:t>
            </a:r>
          </a:p>
        </p:txBody>
      </p:sp>
      <p:sp>
        <p:nvSpPr>
          <p:cNvPr id="19" name="Chevron 18"/>
          <p:cNvSpPr/>
          <p:nvPr/>
        </p:nvSpPr>
        <p:spPr>
          <a:xfrm>
            <a:off x="8238744" y="2331720"/>
            <a:ext cx="1737360" cy="1371600"/>
          </a:xfrm>
          <a:prstGeom prst="chevron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724912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60">
                <a:solidFill>
                  <a:srgbClr val="E2E8F0"/>
                </a:solidFill>
                <a:latin typeface="Noto Kufi Arabic"/>
              </a:defRPr>
            </a:pPr>
            <a:r>
              <a:t>قياس وتحسين</a:t>
            </a:r>
          </a:p>
        </p:txBody>
      </p:sp>
      <p:sp>
        <p:nvSpPr>
          <p:cNvPr id="21" name="Chevron 20"/>
          <p:cNvSpPr/>
          <p:nvPr/>
        </p:nvSpPr>
        <p:spPr>
          <a:xfrm>
            <a:off x="10104119" y="2331720"/>
            <a:ext cx="1737360" cy="1371600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2724912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60">
                <a:solidFill>
                  <a:srgbClr val="E2E8F0"/>
                </a:solidFill>
                <a:latin typeface="Noto Kufi Arabic"/>
              </a:defRPr>
            </a:pPr>
            <a:r>
              <a:t>توسع منضبط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خدماتنا الأساسية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الخدمات الرقمية المعتمدة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321808" cy="411480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50474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محور النمو الرقمي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5020056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أتمتة الأعمال (Business Automation).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إدارة علاقات العملاء والمبيعات (CRM &amp; Sales).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توليد العملاء B2B.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التسويق الرقمي متعدد القنوات.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83080"/>
            <a:ext cx="4919472" cy="411480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11095"/>
            <a:ext cx="46451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محور القنوات والظهور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86000"/>
            <a:ext cx="4617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تطوير المواقع المحولة.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تحسين الظهور في البحث (SEO &amp; SEM).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إدارة وسائل التواصل.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تكامل القنوات مع التتبع والتحليل.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741214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خدمات تشغيلية متقدمة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توسعة الخدمات وفق احتياج التشغيل المؤسسي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394960" cy="40690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التحول التشغيلي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5093208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التحول من ملفات Excel إلى نظام متكامل.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لوحات مؤشرات تشغيلية وتنفيذية.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مواءمة مؤشرات التسويق والمبيعات.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حوكمة بيانات العملاء والتجديد والاحتفاظ.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783080"/>
            <a:ext cx="4864608" cy="40690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911095"/>
            <a:ext cx="45902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الخدمة والحوكمة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286000"/>
            <a:ext cx="4562856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نظام طلبات السكان والصيانة.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تجربة ساكن بمعيار ضيافة.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إدارة الأصول والموردين والعقود.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نظام المعرفة وإجراءات التشغيل القياسية.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18531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الهندسة التشغيلية للحل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ترابط الأنظمة والفرق والبيانات في نموذج واحد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0469880" cy="40690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1019555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طبقات التنفيذ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10168128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طبقة القنوات: موقع، إعلانات، نماذج، تواصل.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طبقة إدارة العملاء: CRM مع حوكمة دورة الفرصة.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طبقة الأتمتة: تدفقات عمل تنفذ المهام المتكررة تلقائيا.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طبقة التحليل: لوحات مؤشرات تربط النشاط بالنتائج.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طبقة القرار: إيقاع مراجعة أسبوعي لتنفيذ التحسينات.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6095847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نموذج الأثر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قراءة كمية للفارق قبل وبعد التطبيق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7240" y="1783080"/>
          <a:ext cx="5623560" cy="3794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675120" y="1783080"/>
          <a:ext cx="4572000" cy="3794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68680" y="5669280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4DC"/>
                </a:solidFill>
                <a:latin typeface="Noto Kufi Arabic"/>
              </a:defRPr>
            </a:pPr>
            <a:r>
              <a:t>يسار: كفاءة تشغيلية | يمين: تحسن مسار التحويل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6773164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مسار اكتساب العملاء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تدفق من الوعي إلى الإغلاق ضمن ضوابط واضحة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7240" y="1828800"/>
          <a:ext cx="6720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26679" y="1828800"/>
            <a:ext cx="3520440" cy="365760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956816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ضبط الفانل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331720"/>
            <a:ext cx="3218688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تأهيل آلي للعملاء المحتملين.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حوكمة تسليم بين التسويق والمبيعات.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متابعة متعددة القنوات.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قياس من الحملة حتى الإيراد.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450480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خدمات الساكن والصيانة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انضباط خدمة بمعيار ضيافة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635508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6080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دورة الخدمة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605332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استقبال الطلب وتصنيفه حسب الأولوية.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بدء SLA تلقائيا مع قواعد تصعيد.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توجيه التنفيذ والتحقق من الإغلاق.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جمع تقييم الساكن وقياس الرضا.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تقرير دوري للإدارة والتحسين.</a:t>
            </a:r>
          </a:p>
        </p:txBody>
      </p:sp>
      <p:pic>
        <p:nvPicPr>
          <p:cNvPr id="14" name="Picture 13" descr="profile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783080"/>
            <a:ext cx="3886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8127796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دراسة حالة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تحول تشغيلي داخل شركة خدمات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61188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3337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التحدي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331012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تعدد ملفات العمل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تقارير متضاربة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تأخر القرار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783080"/>
            <a:ext cx="361188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11095"/>
            <a:ext cx="3337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المنهج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86000"/>
            <a:ext cx="331012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تصميم نموذج بيانات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بناء لوحات تنفيذية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أتمتة دورة التقارير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783080"/>
            <a:ext cx="278892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911095"/>
            <a:ext cx="2514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النتيجة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286000"/>
            <a:ext cx="248716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خفض زمن التقرير 58%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رفع الدقة 41%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قرار أسرع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8805113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دراسة حالة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تحسين مسار المبيعات واكتساب العملاء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30352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قبل التنفيذ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500176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ليدز غير مؤهلة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بطء المتابعة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غياب قراءة دقيقة للفانل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83080"/>
            <a:ext cx="4937760" cy="4023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11095"/>
            <a:ext cx="4663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بعد التنفيذ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636008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حوكمة MQL/SAL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متابعة آلية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تحسن التحويل وقيمة الفرص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482429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الأمان والحوكمة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اعتمادية تشغيلية مناسبة للبيئات المؤسسية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ضبط الصلاحيات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321868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أدوار واضحة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مسارات اعتماد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سجلات تدقيق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83080"/>
            <a:ext cx="352044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11095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حوكمة البيانات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86000"/>
            <a:ext cx="321868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سياسة تعامل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تتبع تدفق البيانات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ضبط الاستخدام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783080"/>
            <a:ext cx="297180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911095"/>
            <a:ext cx="2697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استمرارية الأعمال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86000"/>
            <a:ext cx="267004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خطط بديلة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إنذار مبكر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مراجعة دورية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159746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نماذج التعاقد والتنفيذ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مرونة في البداية والتوسع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تقييم تشغيلي سريع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321868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تشخيص أولي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تحديد الفجوات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خارطة أولويات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83080"/>
            <a:ext cx="352044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11095"/>
            <a:ext cx="32461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برنامج تحول متكامل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86000"/>
            <a:ext cx="321868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تنفيذ شامل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تكامل الأنظمة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إدارة التغيير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783080"/>
            <a:ext cx="297180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911095"/>
            <a:ext cx="2697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تشغيل أتمتة مُدار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86000"/>
            <a:ext cx="267004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متابعة دورية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تحسين مستمر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تقارير تنفيذية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al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837062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التدريب والتمكين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بناء تبني داخلي مستدام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0469880" cy="3977639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11095"/>
            <a:ext cx="1019555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سياسة التدريب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10168128" cy="3337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التدريب يتم أونلاين فقط وفق السياسة المعتمدة.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جلسات مباشرة عن بُعد لفرق التشغيل والإدارة.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مكتبة فيديوهات مسجلة للتشغيل اليومي.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متابعة تبني الفريق وربط التدريب بالمؤشرات.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a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514378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الخطوة التالية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جلسة تشخيص تنفيذية لتحديد الأولويات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74519"/>
            <a:ext cx="9784080" cy="2880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02536"/>
            <a:ext cx="950975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بداية الشراكة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77439"/>
            <a:ext cx="9482328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تحديد نطاق المرحلة الأولى خلال 90 يوم.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تثبيت مؤشرات الأداء ومسؤوليات التنفيذ.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البدء بخطة تشغيل واضحة وقابلة للتوسع.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قناة التواصل الرسمية: ziyadasystem@gmail.com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5897880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اجتماع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669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69464" y="5897880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تشخيص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7977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352544" y="5897880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خطة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6285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135624" y="5897880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تنفيذ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5936" y="6003036"/>
            <a:ext cx="1536192" cy="0"/>
          </a:xfrm>
          <a:prstGeom prst="line">
            <a:avLst/>
          </a:prstGeom>
          <a:ln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918704" y="5897880"/>
            <a:ext cx="210312" cy="2103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5870448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B4C4DC"/>
                </a:solidFill>
                <a:latin typeface="Noto Kufi Arabic"/>
              </a:defRPr>
            </a:pPr>
            <a:r>
              <a:t>قياس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66760" y="1005840"/>
            <a:ext cx="3200400" cy="3200400"/>
          </a:xfrm>
          <a:prstGeom prst="donu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796528" y="1435608"/>
            <a:ext cx="2286000" cy="2286000"/>
          </a:xfrm>
          <a:prstGeom prst="donu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345168" y="2011680"/>
            <a:ext cx="1033271" cy="1033271"/>
          </a:xfrm>
          <a:prstGeom prst="hexagon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937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E2E8F0"/>
                </a:solidFill>
                <a:latin typeface="Noto Kufi Arabic"/>
              </a:defRPr>
            </a:pPr>
            <a:r>
              <a:t>شكرا لكم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>
                <a:solidFill>
                  <a:srgbClr val="B4C4DC"/>
                </a:solidFill>
                <a:latin typeface="Noto Kufi Arabic"/>
              </a:defRPr>
            </a:pPr>
            <a:r>
              <a:t>نتطلع لبناء أثر تشغيلي مستدام معكم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011680"/>
            <a:ext cx="10012680" cy="256032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139696"/>
            <a:ext cx="973835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2E8F0"/>
                </a:solidFill>
                <a:latin typeface="Noto Kufi Arabic"/>
              </a:defRPr>
            </a:pPr>
            <a:r>
              <a:t>فريق زيادة سيستم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14600"/>
            <a:ext cx="9710928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نشكر وقتكم واهتمامكم.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يسعدنا ترتيب جلسة تنفيذية حسب جدولكم.</a:t>
            </a:r>
          </a:p>
          <a:p>
            <a:pPr>
              <a:defRPr sz="1120">
                <a:solidFill>
                  <a:srgbClr val="E2E8F0"/>
                </a:solidFill>
                <a:latin typeface="Noto Kufi Arabic"/>
              </a:defRPr>
            </a:pPr>
            <a:r>
              <a:t>• للتواصل: ziyadasystem@gmail.com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