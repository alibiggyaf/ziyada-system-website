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Inter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regular.fntdata"/><Relationship Id="rId10" Type="http://schemas.openxmlformats.org/officeDocument/2006/relationships/slide" Target="slides/slide5.xml"/><Relationship Id="rId13" Type="http://schemas.openxmlformats.org/officeDocument/2006/relationships/font" Target="fonts/Inter-italic.fntdata"/><Relationship Id="rId12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SLIDES_API171385078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SLIDES_API171385078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SLIDES_API171385078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SLIDES_API171385078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SLIDES_API171385078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SLIDES_API171385078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SLIDES_API171385078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SLIDES_API171385078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3" y="0"/>
            <a:ext cx="1127097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3302000" y="381000"/>
            <a:ext cx="5460900" cy="5460900"/>
          </a:xfrm>
          <a:prstGeom prst="ellipse">
            <a:avLst/>
          </a:prstGeom>
          <a:solidFill>
            <a:srgbClr val="3B82F6">
              <a:alpha val="9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698500" y="863600"/>
            <a:ext cx="10794900" cy="5207100"/>
          </a:xfrm>
          <a:prstGeom prst="roundRect">
            <a:avLst>
              <a:gd fmla="val 16667" name="adj"/>
            </a:avLst>
          </a:prstGeom>
          <a:solidFill>
            <a:srgbClr val="FFFFFF">
              <a:alpha val="10000"/>
            </a:srgbClr>
          </a:solidFill>
          <a:ln cap="flat" cmpd="sng" w="12700">
            <a:solidFill>
              <a:srgbClr val="FFFFFF">
                <a:alpha val="36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9271000" y="304800"/>
            <a:ext cx="2159100" cy="457200"/>
          </a:xfrm>
          <a:prstGeom prst="roundRect">
            <a:avLst>
              <a:gd fmla="val 16667" name="adj"/>
            </a:avLst>
          </a:prstGeom>
          <a:solidFill>
            <a:srgbClr val="6366F1">
              <a:alpha val="85000"/>
            </a:srgbClr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1397000" y="1498600"/>
            <a:ext cx="965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Moon Tier Creative System</a:t>
            </a:r>
            <a:endParaRPr b="1" sz="3600">
              <a:solidFill>
                <a:srgbClr val="6366F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1397000" y="2794000"/>
            <a:ext cx="9651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تصميم أكثر جرأة للمحتوى التنفيذي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خلفيات نهارية أخف + تباين أعلى للقراءة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9398000" y="406400"/>
            <a:ext cx="1905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MOON TIER</a:t>
            </a:r>
            <a:endParaRPr b="1" sz="10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3" y="0"/>
            <a:ext cx="1127097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3302000" y="381000"/>
            <a:ext cx="5460900" cy="5460900"/>
          </a:xfrm>
          <a:prstGeom prst="ellipse">
            <a:avLst/>
          </a:prstGeom>
          <a:solidFill>
            <a:srgbClr val="3B82F6">
              <a:alpha val="9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698500" y="863600"/>
            <a:ext cx="10794900" cy="5207100"/>
          </a:xfrm>
          <a:prstGeom prst="roundRect">
            <a:avLst>
              <a:gd fmla="val 16667" name="adj"/>
            </a:avLst>
          </a:prstGeom>
          <a:solidFill>
            <a:srgbClr val="FFFFFF">
              <a:alpha val="10000"/>
            </a:srgbClr>
          </a:solidFill>
          <a:ln cap="flat" cmpd="sng" w="12700">
            <a:solidFill>
              <a:srgbClr val="FFFFFF">
                <a:alpha val="36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9271000" y="304800"/>
            <a:ext cx="2159100" cy="457200"/>
          </a:xfrm>
          <a:prstGeom prst="roundRect">
            <a:avLst>
              <a:gd fmla="val 16667" name="adj"/>
            </a:avLst>
          </a:prstGeom>
          <a:solidFill>
            <a:srgbClr val="6366F1">
              <a:alpha val="85000"/>
            </a:srgbClr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1397000" y="1498600"/>
            <a:ext cx="965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Moodboard وتوجيه الألوان</a:t>
            </a:r>
            <a:endParaRPr b="1" sz="3600">
              <a:solidFill>
                <a:srgbClr val="6366F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1397000" y="2794000"/>
            <a:ext cx="9651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Day mood: خلفية أهدأ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Night mood: خلفية عميقة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استخدم نفس CTA البنفسجي لضمان الثبات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9398000" y="406400"/>
            <a:ext cx="1905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MOOD</a:t>
            </a:r>
            <a:endParaRPr b="1" sz="10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3" y="0"/>
            <a:ext cx="1127097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3302000" y="381000"/>
            <a:ext cx="5460900" cy="5460900"/>
          </a:xfrm>
          <a:prstGeom prst="ellipse">
            <a:avLst/>
          </a:prstGeom>
          <a:solidFill>
            <a:srgbClr val="3B82F6">
              <a:alpha val="9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698500" y="863600"/>
            <a:ext cx="10794900" cy="5207100"/>
          </a:xfrm>
          <a:prstGeom prst="roundRect">
            <a:avLst>
              <a:gd fmla="val 16667" name="adj"/>
            </a:avLst>
          </a:prstGeom>
          <a:solidFill>
            <a:srgbClr val="FFFFFF">
              <a:alpha val="10000"/>
            </a:srgbClr>
          </a:solidFill>
          <a:ln cap="flat" cmpd="sng" w="12700">
            <a:solidFill>
              <a:srgbClr val="FFFFFF">
                <a:alpha val="36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9271000" y="304800"/>
            <a:ext cx="2159100" cy="457200"/>
          </a:xfrm>
          <a:prstGeom prst="roundRect">
            <a:avLst>
              <a:gd fmla="val 16667" name="adj"/>
            </a:avLst>
          </a:prstGeom>
          <a:solidFill>
            <a:srgbClr val="6366F1">
              <a:alpha val="85000"/>
            </a:srgbClr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1397000" y="1498600"/>
            <a:ext cx="965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استخدام Brain Element</a:t>
            </a:r>
            <a:endParaRPr b="1" sz="3600">
              <a:solidFill>
                <a:srgbClr val="6366F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1397000" y="2794000"/>
            <a:ext cx="9651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Ring منفصل للخلفيات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Core منفصل للنقاط المحورية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الجمع بينهم عند الرسائل الكبرى فقط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9398000" y="406400"/>
            <a:ext cx="1905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ELEMENTS</a:t>
            </a:r>
            <a:endParaRPr b="1" sz="10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3" y="0"/>
            <a:ext cx="1127097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3302000" y="381000"/>
            <a:ext cx="5460900" cy="5460900"/>
          </a:xfrm>
          <a:prstGeom prst="ellipse">
            <a:avLst/>
          </a:prstGeom>
          <a:solidFill>
            <a:srgbClr val="3B82F6">
              <a:alpha val="9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698500" y="863600"/>
            <a:ext cx="10794900" cy="5207100"/>
          </a:xfrm>
          <a:prstGeom prst="roundRect">
            <a:avLst>
              <a:gd fmla="val 16667" name="adj"/>
            </a:avLst>
          </a:prstGeom>
          <a:solidFill>
            <a:srgbClr val="FFFFFF">
              <a:alpha val="10000"/>
            </a:srgbClr>
          </a:solidFill>
          <a:ln cap="flat" cmpd="sng" w="12700">
            <a:solidFill>
              <a:srgbClr val="FFFFFF">
                <a:alpha val="36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9271000" y="304800"/>
            <a:ext cx="2159100" cy="457200"/>
          </a:xfrm>
          <a:prstGeom prst="roundRect">
            <a:avLst>
              <a:gd fmla="val 16667" name="adj"/>
            </a:avLst>
          </a:prstGeom>
          <a:solidFill>
            <a:srgbClr val="6366F1">
              <a:alpha val="85000"/>
            </a:srgbClr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1397000" y="1498600"/>
            <a:ext cx="965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Workflow للإنتاج</a:t>
            </a:r>
            <a:endParaRPr b="1" sz="3600">
              <a:solidFill>
                <a:srgbClr val="6366F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1397000" y="2794000"/>
            <a:ext cx="9651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Brief -&gt; Storyboard -&gt; Design -&gt; Motion -&gt; QA -&gt; Publish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قالب جاهز للفريق بالكامل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9398000" y="406400"/>
            <a:ext cx="1905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WORKFLOW</a:t>
            </a:r>
            <a:endParaRPr b="1" sz="10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3" y="0"/>
            <a:ext cx="1127097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3302000" y="381000"/>
            <a:ext cx="5460900" cy="5460900"/>
          </a:xfrm>
          <a:prstGeom prst="ellipse">
            <a:avLst/>
          </a:prstGeom>
          <a:solidFill>
            <a:srgbClr val="3B82F6">
              <a:alpha val="9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698500" y="863600"/>
            <a:ext cx="10794900" cy="5207100"/>
          </a:xfrm>
          <a:prstGeom prst="roundRect">
            <a:avLst>
              <a:gd fmla="val 16667" name="adj"/>
            </a:avLst>
          </a:prstGeom>
          <a:solidFill>
            <a:srgbClr val="FFFFFF">
              <a:alpha val="10000"/>
            </a:srgbClr>
          </a:solidFill>
          <a:ln cap="flat" cmpd="sng" w="12700">
            <a:solidFill>
              <a:srgbClr val="FFFFFF">
                <a:alpha val="36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9271000" y="304800"/>
            <a:ext cx="2159100" cy="457200"/>
          </a:xfrm>
          <a:prstGeom prst="roundRect">
            <a:avLst>
              <a:gd fmla="val 16667" name="adj"/>
            </a:avLst>
          </a:prstGeom>
          <a:solidFill>
            <a:srgbClr val="6366F1">
              <a:alpha val="85000"/>
            </a:srgbClr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1397000" y="1498600"/>
            <a:ext cx="965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جاهز للتنفيذ</a:t>
            </a:r>
            <a:endParaRPr b="1" sz="3600">
              <a:solidFill>
                <a:srgbClr val="6366F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1397000" y="2794000"/>
            <a:ext cx="9651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كل الملفات مرفقة Open Source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قابل للتعديل للمنشورات، العروض، والريلز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9398000" y="406400"/>
            <a:ext cx="1905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SHIP</a:t>
            </a:r>
            <a:endParaRPr b="1" sz="10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