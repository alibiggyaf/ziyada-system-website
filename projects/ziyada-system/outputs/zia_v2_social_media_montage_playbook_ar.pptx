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Inter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197513626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197513626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SLIDES_API1975136267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SLIDES_API1975136267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1975136267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1975136267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SLIDES_API1975136267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SLIDES_API1975136267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SLIDES_API1975136267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SLIDES_API1975136267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S_API197513626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S_API197513626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1975136267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1975136267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دليل السوشال والمونتاج | عربي سعودي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إرشادات تصميم، كتابة، حركة، وانتقالات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مخصص لفريق التسويق والإبداع في زيادة سيستم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PLAYBOOK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قواعد الهوية البصرية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الخلفيات: #0f172a أساس + تدرجات أزرق/بنفسجي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العناصر: Brain element + كروت زجاجية + Frames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CTA: لون قريب من زر الموقع (بنفسجي مضيء)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BRAND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قوالب المنشورات الثابتة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Static 1: عنوان قوي + 3 نقاط + CTA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Static 2: مشكلة/حل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Static 3: إثبات رقمي + عرض جلسة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POSTS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نظام الكاروسيل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شريحة 1 هوك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2-6 قيمة عملية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7-8 إثبات + CTA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استخدم نفس الإيقاع اللوني والتباين للقراءة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CAROUSEL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7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دليل فيديو الريلز السريع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0-2 ثانية Hook قوي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2-12 ثانية القيمة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12-22 ثانية Proof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22-30 ثانية CTA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سرعة انتقالات عالية بدون تشتيت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17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REELS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8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الانتقالات والحركة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Auto animation عبر API غير مدعومة بالكامل في Google Slides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المعتمد: دليل واضح داخل الشريحة لتطبيق Motion يدوي بسرعة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الموصى به: Fade سريع + Slide + Scale Reveal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TRANSITIONS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9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رابط فيديو Reel الجاهز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فيديو انتقالات سريع بأسلوب Zia: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https://drive.google.com/uc?id=1jeTMPmciStY5-7x2lBbJGMknxg-cvMli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أصول التصميم المفتوحة: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https://drive.google.com/drive/my-drive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VIDEO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13" y="0"/>
            <a:ext cx="1127097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0"/>
          <p:cNvSpPr/>
          <p:nvPr/>
        </p:nvSpPr>
        <p:spPr>
          <a:xfrm>
            <a:off x="3302000" y="381000"/>
            <a:ext cx="5460900" cy="5460900"/>
          </a:xfrm>
          <a:prstGeom prst="ellipse">
            <a:avLst/>
          </a:prstGeom>
          <a:solidFill>
            <a:srgbClr val="3B82F6">
              <a:alpha val="9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0"/>
          <p:cNvSpPr/>
          <p:nvPr/>
        </p:nvSpPr>
        <p:spPr>
          <a:xfrm>
            <a:off x="698500" y="863600"/>
            <a:ext cx="10794900" cy="5207100"/>
          </a:xfrm>
          <a:prstGeom prst="roundRect">
            <a:avLst>
              <a:gd fmla="val 16667" name="adj"/>
            </a:avLst>
          </a:prstGeom>
          <a:solidFill>
            <a:srgbClr val="FFFFFF">
              <a:alpha val="10000"/>
            </a:srgbClr>
          </a:solidFill>
          <a:ln cap="flat" cmpd="sng" w="12700">
            <a:solidFill>
              <a:srgbClr val="FFFFFF">
                <a:alpha val="36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9271000" y="304800"/>
            <a:ext cx="2159100" cy="457200"/>
          </a:xfrm>
          <a:prstGeom prst="roundRect">
            <a:avLst>
              <a:gd fmla="val 16667" name="adj"/>
            </a:avLst>
          </a:prstGeom>
          <a:solidFill>
            <a:srgbClr val="6366F1">
              <a:alpha val="85000"/>
            </a:srgbClr>
          </a:solidFill>
          <a:ln cap="flat" cmpd="sng" w="1270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 txBox="1"/>
          <p:nvPr/>
        </p:nvSpPr>
        <p:spPr>
          <a:xfrm>
            <a:off x="1397000" y="1498600"/>
            <a:ext cx="9651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6366F1"/>
                </a:solidFill>
                <a:latin typeface="Inter"/>
                <a:ea typeface="Inter"/>
                <a:cs typeface="Inter"/>
                <a:sym typeface="Inter"/>
              </a:rPr>
              <a:t>مرجع الفريق الإبداعي</a:t>
            </a:r>
            <a:endParaRPr b="1" sz="3600">
              <a:solidFill>
                <a:srgbClr val="6366F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0"/>
          <p:cNvSpPr txBox="1"/>
          <p:nvPr/>
        </p:nvSpPr>
        <p:spPr>
          <a:xfrm>
            <a:off x="1397000" y="2794000"/>
            <a:ext cx="96519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استخدم هذا الدليل كقالب تشغيلي دائم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حدّثه شهرياً بنتائج الأداء والمنصات</a:t>
            </a:r>
            <a:endParaRPr sz="1800">
              <a:solidFill>
                <a:srgbClr val="E2E8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9398000" y="406400"/>
            <a:ext cx="19050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END</a:t>
            </a:r>
            <a:endParaRPr b="1" sz="1000">
              <a:solidFill>
                <a:srgbClr val="F8FAFC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